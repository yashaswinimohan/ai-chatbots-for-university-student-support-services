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S8mtifNxhr0xGD9g4uZl/aMb2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b3dafa87f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db3dafa87f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db3dafa87f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b3dafa87f_1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db3dafa87f_1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db3dafa87f_1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b3dafa87f_1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db3dafa87f_1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db3dafa87f_1_1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b3dafa87f_1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db3dafa87f_1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b3dafa87f_1_2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b3dafa87f_1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db3dafa87f_1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db3dafa87f_1_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b3dafa87f_1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db3dafa87f_1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db3dafa87f_1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db3dafa87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db3dafa87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g3db3dafa87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db3dafa87f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db3dafa87f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db3dafa87f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db3dafa87f_1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g3db3dafa87f_1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db3dafa87f_1_3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zendesk.com/pricing?utm_source=chatgpt.com" TargetMode="External"/><Relationship Id="rId11" Type="http://schemas.openxmlformats.org/officeDocument/2006/relationships/hyperlink" Target="https://www.gartner.com/en/information-technology/insights/it-metrics" TargetMode="External"/><Relationship Id="rId10" Type="http://schemas.openxmlformats.org/officeDocument/2006/relationships/hyperlink" Target="https://er.educause.edu/articles/2024/2/exploring-the-opportunities-and-challenges-with-generative-ai" TargetMode="External"/><Relationship Id="rId21" Type="http://schemas.openxmlformats.org/officeDocument/2006/relationships/hyperlink" Target="https://www.zendesk.com/pricing?utm_source=chatgpt.com" TargetMode="External"/><Relationship Id="rId13" Type="http://schemas.openxmlformats.org/officeDocument/2006/relationships/hyperlink" Target="https://www.mckinsey.com/capabilities/mckinsey-digital/our-insights/the-economic-potential-of-generative-ai" TargetMode="External"/><Relationship Id="rId12" Type="http://schemas.openxmlformats.org/officeDocument/2006/relationships/hyperlink" Target="https://www.gartner.com/en/documents/597217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bls.gov/" TargetMode="External"/><Relationship Id="rId4" Type="http://schemas.openxmlformats.org/officeDocument/2006/relationships/hyperlink" Target="https://www.bls.gov/" TargetMode="External"/><Relationship Id="rId9" Type="http://schemas.openxmlformats.org/officeDocument/2006/relationships/hyperlink" Target="https://www.educause.edu/research-and-publications/research/enterprise-application-survey" TargetMode="External"/><Relationship Id="rId15" Type="http://schemas.openxmlformats.org/officeDocument/2006/relationships/hyperlink" Target="https://www.nacubo.org/Research/2023/Public-NCSE-Data" TargetMode="External"/><Relationship Id="rId14" Type="http://schemas.openxmlformats.org/officeDocument/2006/relationships/hyperlink" Target="https://www.mckinsey.com/capabilities/tech-and-ai/our-insights/the-economic-potential-of-generative-ai-the-next-productivity-frontier" TargetMode="External"/><Relationship Id="rId17" Type="http://schemas.openxmlformats.org/officeDocument/2006/relationships/hyperlink" Target="https://www.salesforce.com/editions-pricing/service-cloud" TargetMode="External"/><Relationship Id="rId16" Type="http://schemas.openxmlformats.org/officeDocument/2006/relationships/hyperlink" Target="https://www.nacubo.org/Events/2024/Results-From-the-2023-NACUBO-Commonfund-Study-of-Endowments" TargetMode="External"/><Relationship Id="rId5" Type="http://schemas.openxmlformats.org/officeDocument/2006/relationships/hyperlink" Target="https://www.bls.gov/oes/current/oes434051.htm" TargetMode="External"/><Relationship Id="rId19" Type="http://schemas.openxmlformats.org/officeDocument/2006/relationships/hyperlink" Target="https://www.servicenow.com/solutions/industry/education.html" TargetMode="External"/><Relationship Id="rId6" Type="http://schemas.openxmlformats.org/officeDocument/2006/relationships/hyperlink" Target="https://www.bls.gov/oes/current/oes434051.htm" TargetMode="External"/><Relationship Id="rId18" Type="http://schemas.openxmlformats.org/officeDocument/2006/relationships/hyperlink" Target="https://www.salesforce.com/editions-pricing/service-cloud" TargetMode="External"/><Relationship Id="rId7" Type="http://schemas.openxmlformats.org/officeDocument/2006/relationships/hyperlink" Target="https://www.educause.edu/research-and-publications/research/core-data-service" TargetMode="External"/><Relationship Id="rId8" Type="http://schemas.openxmlformats.org/officeDocument/2006/relationships/hyperlink" Target="https://www.educause.edu/research-and-publications/research/core-data-servic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64592" y="1463040"/>
            <a:ext cx="8979408" cy="2212848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47472" y="50292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ISE 200  ·  Financial Methods for Engineers  ·  SJSU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47472" y="1536192"/>
            <a:ext cx="8503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 Feasibility of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Chatbot Adoption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University Student Support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35" y="3477607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From : Yashaswini Mohan and Sugapriya Sridharan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347472" y="3913632"/>
            <a:ext cx="3657600" cy="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347472" y="404164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1" lang="en-US" sz="1500">
                <a:solidFill>
                  <a:srgbClr val="F2F2F2"/>
                </a:solidFill>
                <a:highlight>
                  <a:srgbClr val="595959"/>
                </a:highlight>
                <a:latin typeface="Calibri"/>
                <a:ea typeface="Calibri"/>
                <a:cs typeface="Calibri"/>
                <a:sym typeface="Calibri"/>
              </a:rPr>
              <a:t>GROUP 8</a:t>
            </a:r>
            <a:endParaRPr b="1" i="0" sz="1500" u="none" cap="none" strike="noStrike">
              <a:solidFill>
                <a:srgbClr val="F2F2F2"/>
              </a:solidFill>
              <a:highlight>
                <a:srgbClr val="59595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28600" y="749808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28600" y="7498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12648" y="76809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28600" y="1175004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228600" y="11750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12648" y="119329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ngineering Economy Principles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28600" y="1600200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28600" y="16002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12648" y="161848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Project Selection &amp; Justification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28600" y="2025396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28600" y="202539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12648" y="204368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28600" y="2450592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228600" y="24505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2648" y="246888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Methods &amp; Excel Tool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28600" y="2875788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228600" y="28757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2648" y="289407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Input Parameters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28600" y="3300984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28600" y="33009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12648" y="331927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Cash Flow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28600" y="3726180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28600" y="37261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12648" y="374446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NPV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28600" y="4151376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228600" y="41513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2648" y="416966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IRR &amp; BCR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28600" y="4576572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228600" y="45765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2648" y="459486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Discounted Payback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681728" y="749808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681728" y="7498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065776" y="76809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Sensitivity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Workforce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681728" y="1175004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681728" y="11750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065776" y="119329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Sensitivity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MARR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681728" y="1600200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681728" y="16002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065776" y="161848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Setup Cost &amp; Subscription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681728" y="2025396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681728" y="202539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065776" y="204368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Dashboard &amp;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681728" y="2450592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681728" y="24505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065776" y="246888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Real-World Application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681728" y="2875788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681728" y="28757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65776" y="289407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Economic, Social &amp; Environmental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681728" y="3300984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681728" y="33009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065776" y="331927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Discussion &amp;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681728" y="3726180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681728" y="37261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065776" y="374446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Conclusion &amp; 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681728" y="4151376"/>
            <a:ext cx="329184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4681728" y="41513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5065776" y="416966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28600" y="777251"/>
            <a:ext cx="5486400" cy="1527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20040" y="8412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20040" y="1115568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University student support staff handle thousands of routine inquiries daily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which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includes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financial aid, registration, advising  at significant labor cost. Rising wages and growing enrollment make current staffing models unsustainable.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question: Can AI chatbots economically replace a meaningful share of this workload?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28600" y="2304288"/>
            <a:ext cx="5486400" cy="1143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320040" y="235915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Decision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20040" y="2651760"/>
            <a:ext cx="5303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Four universities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UC Berkeley, Stanford, Arizona State, and SJSU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must decide whether to invest in an AI chatbot platform. This requires a rigorous engineering economic analysis: quantify costs, quantify benefits, compute NPV, and make a data-driven Accept/Reject decision.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897880" y="777240"/>
            <a:ext cx="301752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897880" y="777240"/>
            <a:ext cx="384048" cy="89611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897880" y="777240"/>
            <a:ext cx="38404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345936" y="850392"/>
            <a:ext cx="24871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 chatbots generate positive NPV at 8% MARR?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897880" y="1783080"/>
            <a:ext cx="301752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897880" y="1783080"/>
            <a:ext cx="384048" cy="89611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5897880" y="1783080"/>
            <a:ext cx="38404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345936" y="1856232"/>
            <a:ext cx="24871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How sensitive is NPV to workforce reduction rate, MARR, and costs?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897880" y="2788920"/>
            <a:ext cx="3017520" cy="8961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5897880" y="2788920"/>
            <a:ext cx="384048" cy="89611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897880" y="2788920"/>
            <a:ext cx="38404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345936" y="2862072"/>
            <a:ext cx="248716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Which institution has the strongest economic case?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 Economy Principles Applied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0" y="749808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28600" y="777240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This Project Applies ISE 200 Concepts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28600" y="1170432"/>
            <a:ext cx="4279392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28600" y="1170432"/>
            <a:ext cx="4279392" cy="36576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38328" y="1261872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38328" y="1536192"/>
            <a:ext cx="40599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Future labor savings are discounted to present value using the NPV formula: NPV = −I₀ + Σ[CFₜ / (1+MARR)ᵗ]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09160" y="1170432"/>
            <a:ext cx="4279392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709160" y="1170432"/>
            <a:ext cx="4279392" cy="36576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818888" y="1261872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MARR &amp; Opportunity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818888" y="1536192"/>
            <a:ext cx="40599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University MARR = 8% (NACUBO endowment study). Any investment must beat this hurdle rate to Accept.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28600" y="2404872"/>
            <a:ext cx="4279392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28600" y="2404872"/>
            <a:ext cx="4279392" cy="36576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38328" y="2496312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Cash Flow Modeling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38328" y="2770632"/>
            <a:ext cx="40599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Year 0 = investment outflow. Years 1–5 = net cash flows (labor savings minus subscription + maintenance).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09160" y="2404872"/>
            <a:ext cx="4279392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709160" y="2404872"/>
            <a:ext cx="4279392" cy="36576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818888" y="2496312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IRR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18888" y="2770632"/>
            <a:ext cx="40599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IRR = the rate where NPV = 0. All four universities show IRR of 153–253%, far above the 8% MARR.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28600" y="3639312"/>
            <a:ext cx="4279392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28600" y="3639312"/>
            <a:ext cx="4279392" cy="36576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338328" y="3730752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Benefit-Cost Ratio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38328" y="4005072"/>
            <a:ext cx="40599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BCR = PV of benefits / total costs. BCR &gt; 1.0 confirms economic justification.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709160" y="3639312"/>
            <a:ext cx="4279392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709160" y="3639312"/>
            <a:ext cx="4279392" cy="36576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818888" y="3730752"/>
            <a:ext cx="4059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Sensitivity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818888" y="4005072"/>
            <a:ext cx="40599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NPV tested under different workforce reduction rates, MARR values, setup costs, and subscription tiers.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 — All Values from Public Datasets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28600" y="804672"/>
            <a:ext cx="4279392" cy="12984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28600" y="804672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74904" y="877824"/>
            <a:ext cx="4078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BLS OEWS May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74904" y="1133856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Annual wages by MSA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74904" y="1335024"/>
            <a:ext cx="40782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SOC 43-4051 Customer Service Reps: SF=$54,080 · San Jose=$62,400 · Phoenix=$43,470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709160" y="804672"/>
            <a:ext cx="4279392" cy="12984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709160" y="804672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855464" y="877824"/>
            <a:ext cx="4078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EDUCAUSE 2023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855464" y="1133856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FTE counts &amp; setup costs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855464" y="1335024"/>
            <a:ext cx="40782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Core Data Table S117: student support FTE by Carnegie class · Enterprise App Survey: chatbot integration costs $50K–$145K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28600" y="2221992"/>
            <a:ext cx="4279392" cy="12984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228600" y="2221992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74904" y="2295144"/>
            <a:ext cx="4078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McKinsey GI 2023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74904" y="2551176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Workforce reduction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74904" y="2752344"/>
            <a:ext cx="40782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"Economic Potential of Generative AI"  customer ops productivity gain 30–45%. Base case = 35%.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709160" y="2221992"/>
            <a:ext cx="4279392" cy="12984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709160" y="2221992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855464" y="2295144"/>
            <a:ext cx="4078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Vendor Pricing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855464" y="2551176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Annual subscriptions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855464" y="2752344"/>
            <a:ext cx="40782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Zendesk Enterprise $18K · Salesforce Service Cloud $14.4K · ServiceNow ITSM $32.4K · Zendesk Growth (SJSU) $12K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28600" y="3639312"/>
            <a:ext cx="4279392" cy="12984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228600" y="3639312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374904" y="3712464"/>
            <a:ext cx="4078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Gartner IT Metrics 2023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74904" y="3968496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Maintenance cost &amp; SaaS escalation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74904" y="4169664"/>
            <a:ext cx="40782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Higher Ed helpdesk O&amp;M = 7.5–8.5% of setup cost. SaaS prices rising 4–6%/yr.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709160" y="3639312"/>
            <a:ext cx="4279392" cy="12984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709160" y="3639312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855464" y="3712464"/>
            <a:ext cx="4078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NACUBO Endowment 2023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855464" y="3968496"/>
            <a:ext cx="4078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MARR / University WACC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855464" y="4169664"/>
            <a:ext cx="4078224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10-yr endowment mean 7.7% · Moody's Aa3 muni bonds 4.5–5.0% · Blended WACC = 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Selection &amp; Justification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0" y="749808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228600" y="777240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these four universities? Why AI chatbots?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228600" y="1143000"/>
            <a:ext cx="2084832" cy="33101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228600" y="1143000"/>
            <a:ext cx="2084832" cy="3840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20040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 Berkeley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20040" y="15910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Enrollment: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1234440" y="15910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45,000 students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20040" y="20482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Type: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234440" y="20482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Large Public R1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20040" y="25054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MSA: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234440" y="25054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SF-Oakland MSA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20040" y="29626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Avg Wage: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234440" y="29626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$54,080/yr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20040" y="34198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234440" y="34198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12 FTE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441448" y="1143000"/>
            <a:ext cx="2084832" cy="33101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2441448" y="1143000"/>
            <a:ext cx="2084832" cy="3840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2532888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Stanford Univ.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2532888" y="15910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Enrollment: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3447288" y="15910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17,000 students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2532888" y="20482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Type: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3447288" y="20482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Small Private R1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2532888" y="25054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MSA: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447288" y="25054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San Jose MSA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2532888" y="29626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Avg Wage: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447288" y="29626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$62,400/yr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2532888" y="34198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447288" y="34198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6 FTE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654296" y="1143000"/>
            <a:ext cx="2084832" cy="33101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4654296" y="1143000"/>
            <a:ext cx="2084832" cy="3840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4745736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Arizona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745736" y="15910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Enrollment: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5660136" y="15910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83,000 students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745736" y="20482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Type: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660136" y="20482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Very Large Public R1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745736" y="25054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MSA: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660136" y="25054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Phoenix MSA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745736" y="29626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Avg Wage: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5660136" y="29626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$43,470/yr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745736" y="34198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5660136" y="34198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25 FTE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867144" y="1143000"/>
            <a:ext cx="2084832" cy="33101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867144" y="1143000"/>
            <a:ext cx="2084832" cy="3840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6958584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SJSU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958584" y="15910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Enrollment: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7872984" y="15910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35,751 students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958584" y="20482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Type: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7872984" y="20482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Doctoral Non-R1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6958584" y="25054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MSA: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7872984" y="25054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San Jose MSA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958584" y="29626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Avg Wage: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7872984" y="29626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$62,400/yr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6958584" y="34198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7872984" y="34198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8 FTE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Methods &amp; Automated Excel Tool Design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0" y="749808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228600" y="777240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228600" y="1170432"/>
            <a:ext cx="5120640" cy="5669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20040" y="122529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1737360" y="1225296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Inout Data from Public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28600" y="1801368"/>
            <a:ext cx="51206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20040" y="185623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Cash 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737360" y="1856232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5-year end-of-year model. Year 0 = investment. Years 1–5 = labor savings minus costs.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28600" y="2432304"/>
            <a:ext cx="5120640" cy="5669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320040" y="248716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Economic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737360" y="2487168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NPV, IRR, BCR, payback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all auto-calculated from Cash Flows.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228600" y="3063240"/>
            <a:ext cx="51206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320040" y="311810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737360" y="3118104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 sections: workforce %, MARR, setup cost, subscription  helper columns show every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28600" y="3694176"/>
            <a:ext cx="5120640" cy="5669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20040" y="3749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737360" y="374904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Executive summary pulling from all sheets. Live update on input change.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28600" y="4325112"/>
            <a:ext cx="512064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320040" y="437997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Charts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737360" y="4379976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 embedded charts with live data ranges. All chart series link to dashboard data table.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532120" y="1170432"/>
            <a:ext cx="3383280" cy="33101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5623560" y="120700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Key Formulas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623560" y="15361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Year 1 Labor 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623560" y="1755648"/>
            <a:ext cx="3200400" cy="25603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5669280" y="175564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Staff × Wage × Reduction%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623560" y="204825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Year t Net CF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623560" y="2267712"/>
            <a:ext cx="3200400" cy="25603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5669280" y="226771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Savingsₜ - Costsₜ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623560" y="256032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NPV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623560" y="2779776"/>
            <a:ext cx="3200400" cy="25603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5669280" y="277977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NPV(MARR, Y1:Y5) − Y0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623560" y="307238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623560" y="3291840"/>
            <a:ext cx="3200400" cy="25603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5669280" y="3291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IRR(Y0:Y5)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623560" y="358444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623560" y="3803904"/>
            <a:ext cx="3200400" cy="25603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669280" y="38039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PV Benefits / Total Costs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623560" y="409651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623560" y="4315968"/>
            <a:ext cx="3200400" cy="25603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5669280" y="43159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 NPV(rate, helper cols) − I₀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b3dafa87f_1_4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db3dafa87f_1_4"/>
          <p:cNvSpPr/>
          <p:nvPr/>
        </p:nvSpPr>
        <p:spPr>
          <a:xfrm>
            <a:off x="274320" y="3657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g3db3dafa87f_1_4" title="Screenshot 2026-04-30 at 1.50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0900"/>
            <a:ext cx="5346444" cy="41802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db3dafa87f_1_4"/>
          <p:cNvSpPr txBox="1"/>
          <p:nvPr/>
        </p:nvSpPr>
        <p:spPr>
          <a:xfrm>
            <a:off x="5544100" y="820950"/>
            <a:ext cx="3550800" cy="4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Total labor cost (current, $/yr) = FTE × Annual Wage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Annual labor savings Year 1 ($) = FTE × Wage × Reduction 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Year 0 total investment ($) = Setup Cost + Training Cost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Year 1 net cash flow ($) = Labor Savings − Subscription − Maintenance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5-Year Cash Flow Model — UC Berkeley (Worked Example)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0" y="749808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228600" y="777240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 0 = Investment outflow  ·  Years 1–5 = Labor savings minus subscription and maintenance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292608" y="1170432"/>
            <a:ext cx="1280160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292608" y="117043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1572768" y="1170432"/>
            <a:ext cx="1755648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1572768" y="1170432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Labor Savings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328416" y="1170432"/>
            <a:ext cx="1755648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328416" y="1170432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084064" y="1170432"/>
            <a:ext cx="1755648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084064" y="1170432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839712" y="1170432"/>
            <a:ext cx="1755648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839712" y="1170432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 Cash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92608" y="1517904"/>
            <a:ext cx="8302752" cy="384048"/>
          </a:xfrm>
          <a:prstGeom prst="rect">
            <a:avLst/>
          </a:prstGeom>
          <a:solidFill>
            <a:srgbClr val="FCF0F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292608" y="1517904"/>
            <a:ext cx="12801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292608" y="1517904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 (Today)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1572768" y="151790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1572768" y="151790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−$95,000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328416" y="151790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3328416" y="151790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084064" y="151790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5084064" y="151790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839712" y="151790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839712" y="151790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−$95,000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292608" y="1901952"/>
            <a:ext cx="83027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292608" y="1901952"/>
            <a:ext cx="12801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292608" y="190195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1572768" y="1901952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1572768" y="190195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$227,136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328416" y="1901952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3328416" y="190195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−$18,000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084064" y="1901952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5084064" y="190195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−$7,000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839712" y="1901952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6839712" y="190195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$202,136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292608" y="2286000"/>
            <a:ext cx="8302752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292608" y="2286000"/>
            <a:ext cx="12801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292608" y="228600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572768" y="2286000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572768" y="228600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$233,950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3328416" y="2286000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3328416" y="228600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−$18,720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084064" y="2286000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5084064" y="228600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−$7,280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839712" y="2286000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6839712" y="228600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$207,950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292608" y="2670048"/>
            <a:ext cx="83027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292608" y="2670048"/>
            <a:ext cx="12801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292608" y="267004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1572768" y="2670048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1572768" y="2670048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$240,969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3328416" y="2670048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3328416" y="2670048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−$19,469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084064" y="2670048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084064" y="2670048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−$7,571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839712" y="2670048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6839712" y="2670048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$213,929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292608" y="3054096"/>
            <a:ext cx="8302752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292608" y="3054096"/>
            <a:ext cx="12801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292608" y="3054096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1572768" y="3054096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1572768" y="3054096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$248,198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328416" y="3054096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3328416" y="3054096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−$20,248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5084064" y="3054096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5084064" y="3054096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−$7,874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839712" y="3054096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839712" y="3054096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$220,076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292608" y="3438144"/>
            <a:ext cx="83027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292608" y="3438144"/>
            <a:ext cx="12801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292608" y="3438144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1572768" y="343814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1572768" y="343814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$255,644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328416" y="343814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3328416" y="343814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−$21,057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5084064" y="343814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5084064" y="343814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−$8,189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6839712" y="3438144"/>
            <a:ext cx="175564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839712" y="343814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$226,397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292600" y="3822200"/>
            <a:ext cx="8302800" cy="1024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411480" y="3730752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 txBox="1"/>
          <p:nvPr/>
        </p:nvSpPr>
        <p:spPr>
          <a:xfrm>
            <a:off x="531150" y="3960575"/>
            <a:ext cx="79830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Net Cash Flow = Labor Savings − Subscription − Maintenance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Discount Factor = 1 / (1 + MARR)^t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PV of Cash Flow = Net Cash Flow × Discount Factor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Cumulative PVₜ = Previous Cumulative PV + Current PV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b3dafa87f_1_80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db3dafa87f_1_80"/>
          <p:cNvSpPr/>
          <p:nvPr/>
        </p:nvSpPr>
        <p:spPr>
          <a:xfrm>
            <a:off x="274320" y="3657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5-Year Cash Flow Model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db3dafa87f_1_80"/>
          <p:cNvSpPr/>
          <p:nvPr/>
        </p:nvSpPr>
        <p:spPr>
          <a:xfrm>
            <a:off x="228600" y="777240"/>
            <a:ext cx="886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db3dafa87f_1_80"/>
          <p:cNvSpPr/>
          <p:nvPr/>
        </p:nvSpPr>
        <p:spPr>
          <a:xfrm>
            <a:off x="372025" y="658500"/>
            <a:ext cx="8302800" cy="34989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 savings are calculated as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FTE × Wage × 35% reduction in workload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Savings increase at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3% annually due to expected wage growth over time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 and maintenance costs grow at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4% annually based on SaaS pricing trends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Cash Flow is calculated as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 savings minus subscription and maintenance costs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 0 represents the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investment including setup and training costs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1–5 represent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recurring annual savings and operating costs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 savings remain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significantly higher than recurring costs across all years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cash flow is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from Year 1 and increases each year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positive cash flows result in a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recovery of the initial investment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cash flows are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discounted at 8% MARR for financial evaluation (NPV, IRR)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b3dafa87f_1_183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db3dafa87f_1_183"/>
          <p:cNvSpPr/>
          <p:nvPr/>
        </p:nvSpPr>
        <p:spPr>
          <a:xfrm>
            <a:off x="274320" y="3657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 Metrics = NPV, IRR, Payback, BCR, Decision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g3db3dafa87f_1_183" title="Screenshot 2026-04-30 at 1.59.06 PM.png"/>
          <p:cNvPicPr preferRelativeResize="0"/>
          <p:nvPr/>
        </p:nvPicPr>
        <p:blipFill rotWithShape="1">
          <a:blip r:embed="rId3">
            <a:alphaModFix/>
          </a:blip>
          <a:srcRect b="0" l="0" r="0" t="15683"/>
          <a:stretch/>
        </p:blipFill>
        <p:spPr>
          <a:xfrm>
            <a:off x="274325" y="681576"/>
            <a:ext cx="8839198" cy="28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db3dafa87f_1_183"/>
          <p:cNvSpPr txBox="1"/>
          <p:nvPr/>
        </p:nvSpPr>
        <p:spPr>
          <a:xfrm>
            <a:off x="165625" y="3549350"/>
            <a:ext cx="88968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NPV = </a:t>
            </a:r>
            <a:r>
              <a:rPr lang="en-US" sz="1100"/>
              <a:t>NPV(MARR, Year1:Year5) + Year0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IRR = IRR(Year0:Year5)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IRR-MARR Spread = IRR - MARR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Total Undiscounted Benefits = SUM(LaborSavings_Year1:Year5)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Total Recurring Costs ($) = =SUM(Subscription_Year1:Year5) + SUM(Maintenance_Year1:Year5)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Year 0 Investment ($) = SetupCost + TrainingCost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Benefit-Cost Ratio (BCR) = PV_Benefits / PV_Costs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Decision = IF(NPV_cell &gt; 0, "ACCEPT", "REJECT")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Results — All Four Universities ACCEPT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0" y="749808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228600" y="777240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= NPV(8%, Year1:Year5) − Year0 Investment  ·  Positive NPV = project earns above MARR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228600" y="1170432"/>
            <a:ext cx="2084832" cy="19202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228600" y="1170432"/>
            <a:ext cx="2084832" cy="54864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228600" y="126187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UC Berkeley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228600" y="1664208"/>
            <a:ext cx="20848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$756,115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84632" y="2468880"/>
            <a:ext cx="1572768" cy="310896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484632" y="2468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459736" y="1170432"/>
            <a:ext cx="2084832" cy="19202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2459736" y="1170432"/>
            <a:ext cx="2084832" cy="54864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2459736" y="126187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Stanford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2459736" y="1664208"/>
            <a:ext cx="20848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$394,481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2715768" y="2468880"/>
            <a:ext cx="1572768" cy="310896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2715768" y="2468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690872" y="1170432"/>
            <a:ext cx="2084832" cy="19202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4690872" y="1170432"/>
            <a:ext cx="2084832" cy="54864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4690872" y="126187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Arizona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690872" y="1664208"/>
            <a:ext cx="20848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$1,292,278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946904" y="2468880"/>
            <a:ext cx="1572768" cy="310896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4946904" y="2468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6922008" y="1170432"/>
            <a:ext cx="2084832" cy="19202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6922008" y="1170432"/>
            <a:ext cx="2084832" cy="54864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6922008" y="1261872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SJSU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6922008" y="1664208"/>
            <a:ext cx="20848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$589,144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7178040" y="2468880"/>
            <a:ext cx="1572768" cy="310896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7178040" y="2468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0" y="3255264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228600" y="3282696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Comparison ($)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914400" y="4124046"/>
            <a:ext cx="1371600" cy="722274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914400" y="388630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$756K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914400" y="48646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UCB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2834640" y="4469495"/>
            <a:ext cx="1371600" cy="376825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2834640" y="4231751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$394K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2834640" y="48646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754880" y="3611880"/>
            <a:ext cx="1371600" cy="1234440"/>
          </a:xfrm>
          <a:prstGeom prst="rect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4754880" y="337413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$1292K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754880" y="48646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6675120" y="4283544"/>
            <a:ext cx="1371600" cy="562776"/>
          </a:xfrm>
          <a:prstGeom prst="rect">
            <a:avLst/>
          </a:prstGeom>
          <a:solidFill>
            <a:srgbClr val="7A7A7A"/>
          </a:solidFill>
          <a:ln cap="flat" cmpd="sng" w="12700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6675120" y="4045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$589K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6675120" y="48646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SJSU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IRR &amp; Benefit-Cost Ratio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228600" y="786384"/>
            <a:ext cx="2084832" cy="310896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228600" y="786384"/>
            <a:ext cx="2084832" cy="34747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228600" y="786384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 Berkeley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228600" y="1188720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228600" y="1408176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215%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228600" y="2029968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228600" y="2249424"/>
            <a:ext cx="20848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5.23×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320040" y="2743200"/>
            <a:ext cx="1901952" cy="201168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320040" y="2743200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207 pp above MARR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2459736" y="786384"/>
            <a:ext cx="2084832" cy="310896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2459736" y="786384"/>
            <a:ext cx="2084832" cy="34747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2459736" y="786384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Stanford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2459736" y="1188720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2459736" y="1408176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153%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2459736" y="2029968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2459736" y="2249424"/>
            <a:ext cx="20848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3.85×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2551176" y="2743200"/>
            <a:ext cx="1901952" cy="201168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2551176" y="2743200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145 pp above MARR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4690872" y="786384"/>
            <a:ext cx="2084832" cy="310896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4690872" y="786384"/>
            <a:ext cx="2084832" cy="34747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4690872" y="786384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Arizona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690872" y="1188720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4690872" y="1408176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253%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4690872" y="2029968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4690872" y="2249424"/>
            <a:ext cx="20848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5.62×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4782312" y="2743200"/>
            <a:ext cx="1901952" cy="201168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4782312" y="2743200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245 pp above MARR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6922008" y="786384"/>
            <a:ext cx="2084832" cy="310896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6922008" y="786384"/>
            <a:ext cx="2084832" cy="34747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6922008" y="786384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SJSU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6922008" y="1188720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6922008" y="1408176"/>
            <a:ext cx="20848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217%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6922008" y="2029968"/>
            <a:ext cx="20848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6922008" y="2249424"/>
            <a:ext cx="20848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5.53×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7013448" y="2743200"/>
            <a:ext cx="1901952" cy="201168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7013448" y="2743200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209 pp above MARR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228600" y="4005072"/>
            <a:ext cx="8686800" cy="67665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347472" y="4059936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347472" y="4334256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IRR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= the annual return rate the project earns on the investment. If IRR &gt; MARR (8%), the project is profitable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Accept.  BCR &gt; 1.0 means total present value of benefits exceeds total costs. All four universities show BCRs between 3.85× and 5.62×.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b3dafa87f_1_215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b3dafa87f_1_215"/>
          <p:cNvSpPr/>
          <p:nvPr/>
        </p:nvSpPr>
        <p:spPr>
          <a:xfrm>
            <a:off x="274320" y="3657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Discounted Payback Period 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db3dafa87f_1_215"/>
          <p:cNvSpPr txBox="1"/>
          <p:nvPr/>
        </p:nvSpPr>
        <p:spPr>
          <a:xfrm>
            <a:off x="185225" y="2837875"/>
            <a:ext cx="88968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Year 0 Cumulative PV = − (Setup + Training)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PV of Cash Flow = Net Cash Flow / (1 + MARR)^t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Cumulative PV: Previous_Cumulative_PV + Current_PV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Status = Are all cumulative PV values ≥ 0 ? "All recovered" or "Payback pending"</a:t>
            </a:r>
            <a:endParaRPr sz="1100"/>
          </a:p>
        </p:txBody>
      </p:sp>
      <p:pic>
        <p:nvPicPr>
          <p:cNvPr id="506" name="Google Shape;506;g3db3dafa87f_1_215" title="Screenshot 2026-04-30 at 2.08.4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438" y="810900"/>
            <a:ext cx="8350379" cy="18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db3dafa87f_1_215"/>
          <p:cNvSpPr/>
          <p:nvPr/>
        </p:nvSpPr>
        <p:spPr>
          <a:xfrm>
            <a:off x="458461" y="3901683"/>
            <a:ext cx="715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Year 1 payback for all four institutions: Year 1 savings alone ($92K–$179K) exceed the full investment cost in present value terms. This is exceptionally fast payback for any enterprise software investment.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b3dafa87f_1_277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db3dafa87f_1_277"/>
          <p:cNvSpPr/>
          <p:nvPr/>
        </p:nvSpPr>
        <p:spPr>
          <a:xfrm>
            <a:off x="274320" y="3657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 Analysis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db3dafa87f_1_277"/>
          <p:cNvSpPr/>
          <p:nvPr/>
        </p:nvSpPr>
        <p:spPr>
          <a:xfrm>
            <a:off x="0" y="749808"/>
            <a:ext cx="9144000" cy="3474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“What happens to NPV if one input changes?”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6" name="Google Shape;516;g3db3dafa87f_1_277"/>
          <p:cNvSpPr txBox="1"/>
          <p:nvPr/>
        </p:nvSpPr>
        <p:spPr>
          <a:xfrm>
            <a:off x="0" y="1097200"/>
            <a:ext cx="3670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/>
              <a:t>Workforce Reduction Sensitivity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/>
              <a:t>MARR Sensitivity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/>
              <a:t>Setup Cost Sensitivity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/>
              <a:t>Subscription Cost Sensitivity</a:t>
            </a:r>
            <a:endParaRPr/>
          </a:p>
        </p:txBody>
      </p:sp>
      <p:sp>
        <p:nvSpPr>
          <p:cNvPr id="517" name="Google Shape;517;g3db3dafa87f_1_277"/>
          <p:cNvSpPr txBox="1"/>
          <p:nvPr/>
        </p:nvSpPr>
        <p:spPr>
          <a:xfrm>
            <a:off x="0" y="2753050"/>
            <a:ext cx="4960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Reduction % (25%, 35%, 45%)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Recalculate Net Cash Flow = LaborSavings - Subscription - Maintenance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Growth = Year1_Savings * (1 + BenefitGrowth)^(t-1)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Sensitivity </a:t>
            </a:r>
            <a:r>
              <a:rPr lang="en-US"/>
              <a:t>=NPV(new_rate, new_cashflows) + new_year0</a:t>
            </a:r>
            <a:endParaRPr/>
          </a:p>
        </p:txBody>
      </p:sp>
      <p:pic>
        <p:nvPicPr>
          <p:cNvPr id="518" name="Google Shape;518;g3db3dafa87f_1_277" title="Screenshot 2026-04-30 at 2.3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350" y="1997975"/>
            <a:ext cx="4413650" cy="20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db3dafa87f_1_277"/>
          <p:cNvSpPr txBox="1"/>
          <p:nvPr/>
        </p:nvSpPr>
        <p:spPr>
          <a:xfrm>
            <a:off x="156650" y="2460775"/>
            <a:ext cx="417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WORKFORCE REDUCTION SENSITIVITY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b3dafa87f_1_303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db3dafa87f_1_303"/>
          <p:cNvSpPr/>
          <p:nvPr/>
        </p:nvSpPr>
        <p:spPr>
          <a:xfrm>
            <a:off x="274320" y="3657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 Analysis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db3dafa87f_1_303"/>
          <p:cNvSpPr txBox="1"/>
          <p:nvPr/>
        </p:nvSpPr>
        <p:spPr>
          <a:xfrm>
            <a:off x="0" y="658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MARR SENSITIVITY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g3db3dafa87f_1_303"/>
          <p:cNvSpPr txBox="1"/>
          <p:nvPr/>
        </p:nvSpPr>
        <p:spPr>
          <a:xfrm>
            <a:off x="67725" y="1037525"/>
            <a:ext cx="3387600" cy="1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Discount rate (6%, 8%, 10%, 12%)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Sensitivity=NPV(New_MARR, CashFlows) + Year0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g3db3dafa87f_1_303"/>
          <p:cNvSpPr txBox="1"/>
          <p:nvPr/>
        </p:nvSpPr>
        <p:spPr>
          <a:xfrm>
            <a:off x="-30175" y="2215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SETUP COST SENSITIVITY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g3db3dafa87f_1_303"/>
          <p:cNvSpPr txBox="1"/>
          <p:nvPr/>
        </p:nvSpPr>
        <p:spPr>
          <a:xfrm>
            <a:off x="67725" y="2571750"/>
            <a:ext cx="418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0.7×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1×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1.5×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2×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NPV =NPV(MARR, CashFlows) + New_Year0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g3db3dafa87f_1_303"/>
          <p:cNvSpPr txBox="1"/>
          <p:nvPr/>
        </p:nvSpPr>
        <p:spPr>
          <a:xfrm>
            <a:off x="4954300" y="670650"/>
            <a:ext cx="367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SUBSCRIPTION COST SENSITIVITY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g3db3dafa87f_1_303"/>
          <p:cNvSpPr txBox="1"/>
          <p:nvPr/>
        </p:nvSpPr>
        <p:spPr>
          <a:xfrm>
            <a:off x="4733500" y="1101325"/>
            <a:ext cx="41841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$5K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$25K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$40K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growth = New_Subscription * (1 + 0.04)^(t-1)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Cash Flow= LaborSavings - NewSubscription - Maintenance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NPV = NPV(MARR, NewCashFlows) + Year0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g3db3dafa87f_1_303"/>
          <p:cNvSpPr txBox="1"/>
          <p:nvPr/>
        </p:nvSpPr>
        <p:spPr>
          <a:xfrm>
            <a:off x="5026000" y="2499950"/>
            <a:ext cx="359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534" name="Google Shape;534;g3db3dafa87f_1_303"/>
          <p:cNvSpPr txBox="1"/>
          <p:nvPr/>
        </p:nvSpPr>
        <p:spPr>
          <a:xfrm>
            <a:off x="5078225" y="3548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db3dafa87f_1_303"/>
          <p:cNvSpPr txBox="1"/>
          <p:nvPr/>
        </p:nvSpPr>
        <p:spPr>
          <a:xfrm>
            <a:off x="5169600" y="4268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 Analysis 1 — Workforce Reduction Rate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0" y="676683"/>
            <a:ext cx="9144000" cy="3474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228600" y="646865"/>
            <a:ext cx="886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 changed: % of labor replaced by chatbot  ·  McKinsey 2023 range: 30–45%  ·  Base = 35%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228600" y="1040057"/>
            <a:ext cx="2194500" cy="3474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228600" y="1040057"/>
            <a:ext cx="219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2423160" y="1040057"/>
            <a:ext cx="1591200" cy="3474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2423160" y="1040057"/>
            <a:ext cx="1591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UCB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4014216" y="1040057"/>
            <a:ext cx="1591200" cy="3474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4014216" y="1040057"/>
            <a:ext cx="1591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Stanford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5605272" y="1040057"/>
            <a:ext cx="1755600" cy="3474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5605272" y="1040057"/>
            <a:ext cx="1755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ASU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7360920" y="1040057"/>
            <a:ext cx="1591200" cy="3474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7360920" y="1040057"/>
            <a:ext cx="1591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SJSU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228600" y="1387529"/>
            <a:ext cx="8723400" cy="4023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228600" y="1387529"/>
            <a:ext cx="21945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228600" y="1387529"/>
            <a:ext cx="2194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25% (Pessimistic)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2423160" y="1387529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2423160" y="1387529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$482,231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4014216" y="1387529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4014216" y="1387529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$236,472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5605272" y="1387529"/>
            <a:ext cx="17556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5605272" y="1387529"/>
            <a:ext cx="1755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$833,631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7360920" y="1387529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7360920" y="1387529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$378,464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228600" y="1789865"/>
            <a:ext cx="8723400" cy="402300"/>
          </a:xfrm>
          <a:prstGeom prst="rect">
            <a:avLst/>
          </a:prstGeom>
          <a:solidFill>
            <a:srgbClr val="E8F0E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228600" y="1789865"/>
            <a:ext cx="21945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228600" y="1789865"/>
            <a:ext cx="2194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35% (Base Case)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2423160" y="1789865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2423160" y="1789865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$756,115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4014216" y="1789865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4014216" y="1789865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$394,481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5605272" y="1789865"/>
            <a:ext cx="17556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5605272" y="1789865"/>
            <a:ext cx="1755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$1,292,278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7360920" y="1789865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7360920" y="1789865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$589,144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228600" y="2192201"/>
            <a:ext cx="8723400" cy="4023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228600" y="2192201"/>
            <a:ext cx="21945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228600" y="2192200"/>
            <a:ext cx="219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45% (Optimistic)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2423160" y="2192201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2423161" y="2192200"/>
            <a:ext cx="159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$1,029,998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4014216" y="2192201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3"/>
          <p:cNvSpPr/>
          <p:nvPr/>
        </p:nvSpPr>
        <p:spPr>
          <a:xfrm>
            <a:off x="4014218" y="2192200"/>
            <a:ext cx="159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$552,491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5605272" y="2192201"/>
            <a:ext cx="17556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5605275" y="2192200"/>
            <a:ext cx="175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$1,750,925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7360920" y="2192201"/>
            <a:ext cx="1591200" cy="40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7360924" y="2192200"/>
            <a:ext cx="159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$799,824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80825" y="2539775"/>
            <a:ext cx="9063300" cy="2196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228600" y="2533814"/>
            <a:ext cx="886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Range: Pessimistic vs Optimistic (shows model sensitivity)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640080" y="3497170"/>
            <a:ext cx="1371600" cy="873662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640080" y="316798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$548K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640080" y="44074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UCB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2834640" y="3866797"/>
            <a:ext cx="1371600" cy="504035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3"/>
          <p:cNvSpPr/>
          <p:nvPr/>
        </p:nvSpPr>
        <p:spPr>
          <a:xfrm>
            <a:off x="2834640" y="3537613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$316K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2834640" y="44074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5029200" y="2907792"/>
            <a:ext cx="1371600" cy="146304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4597050" y="2627625"/>
            <a:ext cx="219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$917K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5029200" y="44074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7223760" y="3698783"/>
            <a:ext cx="1371600" cy="672049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3"/>
          <p:cNvSpPr/>
          <p:nvPr/>
        </p:nvSpPr>
        <p:spPr>
          <a:xfrm>
            <a:off x="7223760" y="3369599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$421K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7223760" y="44074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SJSU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228600" y="4626864"/>
            <a:ext cx="8723376" cy="27432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320040" y="4654296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All scenarios remain ACCEPT </a:t>
            </a:r>
            <a:r>
              <a:rPr b="1" lang="en-US" sz="11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1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even at 25% (below McKinsey floor), every university NPV is strongly positive.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4" name="Google Shape;60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4" y="0"/>
            <a:ext cx="911603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 Analysis 2 — MARR / Discount Rate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0" y="749808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228600" y="777240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Cash flows unchanged — only the discount rate changes  ·  Base = 8%  ·  Range tested: 6%–12%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228600" y="1170432"/>
            <a:ext cx="2194560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228600" y="117043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2423160" y="1170432"/>
            <a:ext cx="1591056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2423160" y="117043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UCB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4014216" y="1170432"/>
            <a:ext cx="1591056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4014216" y="117043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Stanford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5605272" y="1170432"/>
            <a:ext cx="1755648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5605272" y="1170432"/>
            <a:ext cx="1755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ASU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7360920" y="1170432"/>
            <a:ext cx="1591056" cy="347472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7360920" y="1170432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NPV SJSU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228600" y="1517904"/>
            <a:ext cx="8723376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228600" y="1517904"/>
            <a:ext cx="2194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228600" y="1517904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6%  (Low)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2423160" y="1517904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4"/>
          <p:cNvSpPr/>
          <p:nvPr/>
        </p:nvSpPr>
        <p:spPr>
          <a:xfrm>
            <a:off x="2423160" y="1517904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$803,886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4014216" y="1517904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4014216" y="1517904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$420,710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5605272" y="1517904"/>
            <a:ext cx="1755648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4"/>
          <p:cNvSpPr/>
          <p:nvPr/>
        </p:nvSpPr>
        <p:spPr>
          <a:xfrm>
            <a:off x="5605272" y="1517904"/>
            <a:ext cx="17556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$1,372,389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7360920" y="1517904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7360920" y="1517904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$626,312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228600" y="1920240"/>
            <a:ext cx="8723376" cy="402336"/>
          </a:xfrm>
          <a:prstGeom prst="rect">
            <a:avLst/>
          </a:prstGeom>
          <a:solidFill>
            <a:srgbClr val="E8F0E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4"/>
          <p:cNvSpPr/>
          <p:nvPr/>
        </p:nvSpPr>
        <p:spPr>
          <a:xfrm>
            <a:off x="228600" y="1920240"/>
            <a:ext cx="2194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4"/>
          <p:cNvSpPr/>
          <p:nvPr/>
        </p:nvSpPr>
        <p:spPr>
          <a:xfrm>
            <a:off x="228600" y="1920240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8%  (Base Case)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2423160" y="1920240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4"/>
          <p:cNvSpPr/>
          <p:nvPr/>
        </p:nvSpPr>
        <p:spPr>
          <a:xfrm>
            <a:off x="2423160" y="1920240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$756,115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4014216" y="1920240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4"/>
          <p:cNvSpPr/>
          <p:nvPr/>
        </p:nvSpPr>
        <p:spPr>
          <a:xfrm>
            <a:off x="4014216" y="1920240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$394,481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5605272" y="1920240"/>
            <a:ext cx="1755648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4"/>
          <p:cNvSpPr/>
          <p:nvPr/>
        </p:nvSpPr>
        <p:spPr>
          <a:xfrm>
            <a:off x="5605272" y="1920240"/>
            <a:ext cx="17556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$1,292,278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7360920" y="1920240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4"/>
          <p:cNvSpPr/>
          <p:nvPr/>
        </p:nvSpPr>
        <p:spPr>
          <a:xfrm>
            <a:off x="7360920" y="1920240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$589,144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228600" y="2322576"/>
            <a:ext cx="8723376" cy="402336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228600" y="2322576"/>
            <a:ext cx="2194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4"/>
          <p:cNvSpPr/>
          <p:nvPr/>
        </p:nvSpPr>
        <p:spPr>
          <a:xfrm>
            <a:off x="228600" y="2322576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10% (High)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2423160" y="2322576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4"/>
          <p:cNvSpPr/>
          <p:nvPr/>
        </p:nvSpPr>
        <p:spPr>
          <a:xfrm>
            <a:off x="2423160" y="2322576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$712,237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4"/>
          <p:cNvSpPr/>
          <p:nvPr/>
        </p:nvSpPr>
        <p:spPr>
          <a:xfrm>
            <a:off x="4014216" y="2322576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4"/>
          <p:cNvSpPr/>
          <p:nvPr/>
        </p:nvSpPr>
        <p:spPr>
          <a:xfrm>
            <a:off x="4014216" y="2322576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$370,390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4"/>
          <p:cNvSpPr/>
          <p:nvPr/>
        </p:nvSpPr>
        <p:spPr>
          <a:xfrm>
            <a:off x="5605272" y="2322576"/>
            <a:ext cx="1755648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4"/>
          <p:cNvSpPr/>
          <p:nvPr/>
        </p:nvSpPr>
        <p:spPr>
          <a:xfrm>
            <a:off x="5605272" y="2322576"/>
            <a:ext cx="17556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$1,218,697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4"/>
          <p:cNvSpPr/>
          <p:nvPr/>
        </p:nvSpPr>
        <p:spPr>
          <a:xfrm>
            <a:off x="7360920" y="2322576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4"/>
          <p:cNvSpPr/>
          <p:nvPr/>
        </p:nvSpPr>
        <p:spPr>
          <a:xfrm>
            <a:off x="7360920" y="2322576"/>
            <a:ext cx="1591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$555,006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4"/>
          <p:cNvSpPr/>
          <p:nvPr/>
        </p:nvSpPr>
        <p:spPr>
          <a:xfrm>
            <a:off x="228600" y="2724912"/>
            <a:ext cx="872337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4"/>
          <p:cNvSpPr/>
          <p:nvPr/>
        </p:nvSpPr>
        <p:spPr>
          <a:xfrm>
            <a:off x="228600" y="2724912"/>
            <a:ext cx="2194560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4"/>
          <p:cNvSpPr/>
          <p:nvPr/>
        </p:nvSpPr>
        <p:spPr>
          <a:xfrm>
            <a:off x="228600" y="2724912"/>
            <a:ext cx="2194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12% (Conservative)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2423160" y="2724912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4"/>
          <p:cNvSpPr/>
          <p:nvPr/>
        </p:nvSpPr>
        <p:spPr>
          <a:xfrm>
            <a:off x="2423160" y="2724912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$671,851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4"/>
          <p:cNvSpPr/>
          <p:nvPr/>
        </p:nvSpPr>
        <p:spPr>
          <a:xfrm>
            <a:off x="4014216" y="2724912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4"/>
          <p:cNvSpPr/>
          <p:nvPr/>
        </p:nvSpPr>
        <p:spPr>
          <a:xfrm>
            <a:off x="4014216" y="2724912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$348,216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5605272" y="2724912"/>
            <a:ext cx="1755648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4"/>
          <p:cNvSpPr/>
          <p:nvPr/>
        </p:nvSpPr>
        <p:spPr>
          <a:xfrm>
            <a:off x="5605272" y="2724912"/>
            <a:ext cx="1755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$1,150,971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4"/>
          <p:cNvSpPr/>
          <p:nvPr/>
        </p:nvSpPr>
        <p:spPr>
          <a:xfrm>
            <a:off x="7360920" y="2724912"/>
            <a:ext cx="15910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4"/>
          <p:cNvSpPr/>
          <p:nvPr/>
        </p:nvSpPr>
        <p:spPr>
          <a:xfrm>
            <a:off x="7360920" y="2724912"/>
            <a:ext cx="159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$523,585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4"/>
          <p:cNvSpPr/>
          <p:nvPr/>
        </p:nvSpPr>
        <p:spPr>
          <a:xfrm>
            <a:off x="228600" y="2999232"/>
            <a:ext cx="8723376" cy="5669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347472" y="305409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 reversal: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2395728" y="3054096"/>
            <a:ext cx="6446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NPV remains positive for ALL universities at EVERY MARR tested (6–12%). Accept decision is invariant.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4"/>
          <p:cNvSpPr/>
          <p:nvPr/>
        </p:nvSpPr>
        <p:spPr>
          <a:xfrm>
            <a:off x="228600" y="3639312"/>
            <a:ext cx="8723376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4"/>
          <p:cNvSpPr/>
          <p:nvPr/>
        </p:nvSpPr>
        <p:spPr>
          <a:xfrm>
            <a:off x="347472" y="369417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Year 1 dominance: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4"/>
          <p:cNvSpPr/>
          <p:nvPr/>
        </p:nvSpPr>
        <p:spPr>
          <a:xfrm>
            <a:off x="2395728" y="3694176"/>
            <a:ext cx="6446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Because Year 1 savings are large relative to investment, high MARR has limited impact — most value arrives early.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4"/>
          <p:cNvSpPr/>
          <p:nvPr/>
        </p:nvSpPr>
        <p:spPr>
          <a:xfrm>
            <a:off x="228600" y="4279392"/>
            <a:ext cx="8723376" cy="5669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4"/>
          <p:cNvSpPr/>
          <p:nvPr/>
        </p:nvSpPr>
        <p:spPr>
          <a:xfrm>
            <a:off x="347472" y="433425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ASU floor = $1.15M: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4"/>
          <p:cNvSpPr/>
          <p:nvPr/>
        </p:nvSpPr>
        <p:spPr>
          <a:xfrm>
            <a:off x="2395728" y="4334256"/>
            <a:ext cx="6446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Even at 12% MARR — 50% above base — ASU NPV is $1.15M. The model is not MARR-sensitive.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Sensitivity Analysis 3 — Setup Cost &amp; Subscription Tier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5"/>
          <p:cNvSpPr/>
          <p:nvPr/>
        </p:nvSpPr>
        <p:spPr>
          <a:xfrm>
            <a:off x="0" y="649275"/>
            <a:ext cx="9144000" cy="369000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274325" y="676703"/>
            <a:ext cx="886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3: Setup Cost — only Year 0 changes  ·  Section 4: Subscription — only recurring costs change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228600" y="1005840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Setup Cost Sensitivity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5128208" y="1024153"/>
            <a:ext cx="406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Subscription Sensitivity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5"/>
          <p:cNvSpPr/>
          <p:nvPr/>
        </p:nvSpPr>
        <p:spPr>
          <a:xfrm>
            <a:off x="210313" y="3238600"/>
            <a:ext cx="8723400" cy="567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282040" y="3293452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Key finding: Setup cost and subscription sensitivity are modest. Even doubling setup cost or paying $40K/yr subscription, all Accept decisions hold. The model is not sensitive to cost-side assumptions.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5"/>
          <p:cNvSpPr/>
          <p:nvPr/>
        </p:nvSpPr>
        <p:spPr>
          <a:xfrm>
            <a:off x="228600" y="4063318"/>
            <a:ext cx="2743200" cy="62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228600" y="4005856"/>
            <a:ext cx="2743200" cy="549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228600" y="4463449"/>
            <a:ext cx="27432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$42K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5"/>
          <p:cNvSpPr/>
          <p:nvPr/>
        </p:nvSpPr>
        <p:spPr>
          <a:xfrm>
            <a:off x="228600" y="4093414"/>
            <a:ext cx="2743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Max NPV swing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from setup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(UCB)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5"/>
          <p:cNvSpPr/>
          <p:nvPr/>
        </p:nvSpPr>
        <p:spPr>
          <a:xfrm>
            <a:off x="3154675" y="3991725"/>
            <a:ext cx="2743200" cy="69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5"/>
          <p:cNvSpPr/>
          <p:nvPr/>
        </p:nvSpPr>
        <p:spPr>
          <a:xfrm>
            <a:off x="3162355" y="3991718"/>
            <a:ext cx="2743200" cy="549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3177543" y="4685595"/>
            <a:ext cx="2743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$150K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3162355" y="4099918"/>
            <a:ext cx="2743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Max NPV swing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from subscription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(UCB)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5"/>
          <p:cNvSpPr/>
          <p:nvPr/>
        </p:nvSpPr>
        <p:spPr>
          <a:xfrm>
            <a:off x="6096110" y="4056193"/>
            <a:ext cx="2743200" cy="62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6096110" y="3986768"/>
            <a:ext cx="2743200" cy="549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6126485" y="4664445"/>
            <a:ext cx="2743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6096110" y="4007368"/>
            <a:ext cx="2743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Number of Reject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decisions across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all 32 scenarios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15" title="Screenshot 2026-05-01 at 5.41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200" y="1319825"/>
            <a:ext cx="3805525" cy="16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15" title="Screenshot 2026-05-01 at 5.42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267865"/>
            <a:ext cx="4036458" cy="1672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6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6"/>
          <p:cNvSpPr/>
          <p:nvPr/>
        </p:nvSpPr>
        <p:spPr>
          <a:xfrm>
            <a:off x="0" y="749808"/>
            <a:ext cx="9144000" cy="347472"/>
          </a:xfrm>
          <a:prstGeom prst="rect">
            <a:avLst/>
          </a:prstGeom>
          <a:solidFill>
            <a:srgbClr val="888888"/>
          </a:soli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228600" y="777240"/>
            <a:ext cx="8869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values auto-calculated by the Excel tool from Inputs. Changes to any assumption update instantly.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6"/>
          <p:cNvSpPr/>
          <p:nvPr/>
        </p:nvSpPr>
        <p:spPr>
          <a:xfrm>
            <a:off x="228600" y="1170432"/>
            <a:ext cx="2468880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228600" y="1170432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2697480" y="1170432"/>
            <a:ext cx="1554480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2697480" y="117043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 Berkeley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6"/>
          <p:cNvSpPr/>
          <p:nvPr/>
        </p:nvSpPr>
        <p:spPr>
          <a:xfrm>
            <a:off x="4251960" y="1170432"/>
            <a:ext cx="1554480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6"/>
          <p:cNvSpPr/>
          <p:nvPr/>
        </p:nvSpPr>
        <p:spPr>
          <a:xfrm>
            <a:off x="4251960" y="117043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Stanford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5806440" y="1170432"/>
            <a:ext cx="1682496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5806440" y="1170432"/>
            <a:ext cx="1682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Arizona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7488936" y="1170432"/>
            <a:ext cx="1463040" cy="329184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6"/>
          <p:cNvSpPr/>
          <p:nvPr/>
        </p:nvSpPr>
        <p:spPr>
          <a:xfrm>
            <a:off x="7488936" y="117043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SJSU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228600" y="1499616"/>
            <a:ext cx="8723376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6"/>
          <p:cNvSpPr/>
          <p:nvPr/>
        </p:nvSpPr>
        <p:spPr>
          <a:xfrm>
            <a:off x="228600" y="1499616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228600" y="149961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Year 0 Investment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2697480" y="1499616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2697480" y="149961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$95,000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6"/>
          <p:cNvSpPr/>
          <p:nvPr/>
        </p:nvSpPr>
        <p:spPr>
          <a:xfrm>
            <a:off x="4251960" y="1499616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6"/>
          <p:cNvSpPr/>
          <p:nvPr/>
        </p:nvSpPr>
        <p:spPr>
          <a:xfrm>
            <a:off x="4251960" y="149961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$73,000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6"/>
          <p:cNvSpPr/>
          <p:nvPr/>
        </p:nvSpPr>
        <p:spPr>
          <a:xfrm>
            <a:off x="5806440" y="1499616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5806440" y="1499616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$135,000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6"/>
          <p:cNvSpPr/>
          <p:nvPr/>
        </p:nvSpPr>
        <p:spPr>
          <a:xfrm>
            <a:off x="7488936" y="1499616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7488936" y="149961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$73,000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6"/>
          <p:cNvSpPr/>
          <p:nvPr/>
        </p:nvSpPr>
        <p:spPr>
          <a:xfrm>
            <a:off x="228600" y="1883664"/>
            <a:ext cx="872337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228600" y="1883664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6"/>
          <p:cNvSpPr/>
          <p:nvPr/>
        </p:nvSpPr>
        <p:spPr>
          <a:xfrm>
            <a:off x="228600" y="188366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Year 1 Net CF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6"/>
          <p:cNvSpPr/>
          <p:nvPr/>
        </p:nvSpPr>
        <p:spPr>
          <a:xfrm>
            <a:off x="2697480" y="1883664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6"/>
          <p:cNvSpPr/>
          <p:nvPr/>
        </p:nvSpPr>
        <p:spPr>
          <a:xfrm>
            <a:off x="2697480" y="188366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$202,136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6"/>
          <p:cNvSpPr/>
          <p:nvPr/>
        </p:nvSpPr>
        <p:spPr>
          <a:xfrm>
            <a:off x="4251960" y="1883664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6"/>
          <p:cNvSpPr/>
          <p:nvPr/>
        </p:nvSpPr>
        <p:spPr>
          <a:xfrm>
            <a:off x="4251960" y="188366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$111,140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5806440" y="1883664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6"/>
          <p:cNvSpPr/>
          <p:nvPr/>
        </p:nvSpPr>
        <p:spPr>
          <a:xfrm>
            <a:off x="5806440" y="1883664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$338,963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6"/>
          <p:cNvSpPr/>
          <p:nvPr/>
        </p:nvSpPr>
        <p:spPr>
          <a:xfrm>
            <a:off x="7488936" y="1883664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6"/>
          <p:cNvSpPr/>
          <p:nvPr/>
        </p:nvSpPr>
        <p:spPr>
          <a:xfrm>
            <a:off x="7488936" y="188366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$157,220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6"/>
          <p:cNvSpPr/>
          <p:nvPr/>
        </p:nvSpPr>
        <p:spPr>
          <a:xfrm>
            <a:off x="228600" y="2267712"/>
            <a:ext cx="8723376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228600" y="2267712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228600" y="226771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5-Yr Total Benefits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6"/>
          <p:cNvSpPr/>
          <p:nvPr/>
        </p:nvSpPr>
        <p:spPr>
          <a:xfrm>
            <a:off x="2697480" y="2267712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2697480" y="226771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$1,205,896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6"/>
          <p:cNvSpPr/>
          <p:nvPr/>
        </p:nvSpPr>
        <p:spPr>
          <a:xfrm>
            <a:off x="4251960" y="2267712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6"/>
          <p:cNvSpPr/>
          <p:nvPr/>
        </p:nvSpPr>
        <p:spPr>
          <a:xfrm>
            <a:off x="4251960" y="226771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$695,709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6"/>
          <p:cNvSpPr/>
          <p:nvPr/>
        </p:nvSpPr>
        <p:spPr>
          <a:xfrm>
            <a:off x="5806440" y="2267712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5806440" y="2267712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$2,019,396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6"/>
          <p:cNvSpPr/>
          <p:nvPr/>
        </p:nvSpPr>
        <p:spPr>
          <a:xfrm>
            <a:off x="7488936" y="2267712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6"/>
          <p:cNvSpPr/>
          <p:nvPr/>
        </p:nvSpPr>
        <p:spPr>
          <a:xfrm>
            <a:off x="7488936" y="22677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$927,612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6"/>
          <p:cNvSpPr/>
          <p:nvPr/>
        </p:nvSpPr>
        <p:spPr>
          <a:xfrm>
            <a:off x="228600" y="2651760"/>
            <a:ext cx="872337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6"/>
          <p:cNvSpPr/>
          <p:nvPr/>
        </p:nvSpPr>
        <p:spPr>
          <a:xfrm>
            <a:off x="228600" y="2651760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6"/>
          <p:cNvSpPr/>
          <p:nvPr/>
        </p:nvSpPr>
        <p:spPr>
          <a:xfrm>
            <a:off x="228600" y="26517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5-Yr Recurring Costs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2697480" y="2651760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6"/>
          <p:cNvSpPr/>
          <p:nvPr/>
        </p:nvSpPr>
        <p:spPr>
          <a:xfrm>
            <a:off x="2697480" y="265176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$135,408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4251960" y="2651760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6"/>
          <p:cNvSpPr/>
          <p:nvPr/>
        </p:nvSpPr>
        <p:spPr>
          <a:xfrm>
            <a:off x="4251960" y="265176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$107,785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6"/>
          <p:cNvSpPr/>
          <p:nvPr/>
        </p:nvSpPr>
        <p:spPr>
          <a:xfrm>
            <a:off x="5806440" y="2651760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6"/>
          <p:cNvSpPr/>
          <p:nvPr/>
        </p:nvSpPr>
        <p:spPr>
          <a:xfrm>
            <a:off x="5806440" y="2651760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$224,236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6"/>
          <p:cNvSpPr/>
          <p:nvPr/>
        </p:nvSpPr>
        <p:spPr>
          <a:xfrm>
            <a:off x="7488936" y="2651760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6"/>
          <p:cNvSpPr/>
          <p:nvPr/>
        </p:nvSpPr>
        <p:spPr>
          <a:xfrm>
            <a:off x="7488936" y="26517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$94,786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6"/>
          <p:cNvSpPr/>
          <p:nvPr/>
        </p:nvSpPr>
        <p:spPr>
          <a:xfrm>
            <a:off x="228600" y="3035808"/>
            <a:ext cx="8723376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6"/>
          <p:cNvSpPr/>
          <p:nvPr/>
        </p:nvSpPr>
        <p:spPr>
          <a:xfrm>
            <a:off x="228600" y="3035808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6"/>
          <p:cNvSpPr/>
          <p:nvPr/>
        </p:nvSpPr>
        <p:spPr>
          <a:xfrm>
            <a:off x="228600" y="30358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NPV (8% MARR)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6"/>
          <p:cNvSpPr/>
          <p:nvPr/>
        </p:nvSpPr>
        <p:spPr>
          <a:xfrm>
            <a:off x="2697480" y="3035808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6"/>
          <p:cNvSpPr/>
          <p:nvPr/>
        </p:nvSpPr>
        <p:spPr>
          <a:xfrm>
            <a:off x="2697480" y="303580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$756,115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6"/>
          <p:cNvSpPr/>
          <p:nvPr/>
        </p:nvSpPr>
        <p:spPr>
          <a:xfrm>
            <a:off x="4251960" y="3035808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6"/>
          <p:cNvSpPr/>
          <p:nvPr/>
        </p:nvSpPr>
        <p:spPr>
          <a:xfrm>
            <a:off x="4251960" y="303580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$394,481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6"/>
          <p:cNvSpPr/>
          <p:nvPr/>
        </p:nvSpPr>
        <p:spPr>
          <a:xfrm>
            <a:off x="5806440" y="3035808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6"/>
          <p:cNvSpPr/>
          <p:nvPr/>
        </p:nvSpPr>
        <p:spPr>
          <a:xfrm>
            <a:off x="5806440" y="3035808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$1,292,278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6"/>
          <p:cNvSpPr/>
          <p:nvPr/>
        </p:nvSpPr>
        <p:spPr>
          <a:xfrm>
            <a:off x="7488936" y="3035808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6"/>
          <p:cNvSpPr/>
          <p:nvPr/>
        </p:nvSpPr>
        <p:spPr>
          <a:xfrm>
            <a:off x="7488936" y="303580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$589,144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6"/>
          <p:cNvSpPr/>
          <p:nvPr/>
        </p:nvSpPr>
        <p:spPr>
          <a:xfrm>
            <a:off x="228600" y="3419856"/>
            <a:ext cx="872337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6"/>
          <p:cNvSpPr/>
          <p:nvPr/>
        </p:nvSpPr>
        <p:spPr>
          <a:xfrm>
            <a:off x="228600" y="3419856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6"/>
          <p:cNvSpPr/>
          <p:nvPr/>
        </p:nvSpPr>
        <p:spPr>
          <a:xfrm>
            <a:off x="228600" y="341985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IRR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2697480" y="3419856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6"/>
          <p:cNvSpPr/>
          <p:nvPr/>
        </p:nvSpPr>
        <p:spPr>
          <a:xfrm>
            <a:off x="2697480" y="341985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215%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4251960" y="3419856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6"/>
          <p:cNvSpPr/>
          <p:nvPr/>
        </p:nvSpPr>
        <p:spPr>
          <a:xfrm>
            <a:off x="4251960" y="341985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153%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6"/>
          <p:cNvSpPr/>
          <p:nvPr/>
        </p:nvSpPr>
        <p:spPr>
          <a:xfrm>
            <a:off x="5806440" y="3419856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6"/>
          <p:cNvSpPr/>
          <p:nvPr/>
        </p:nvSpPr>
        <p:spPr>
          <a:xfrm>
            <a:off x="5806440" y="3419856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253%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7488936" y="3419856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6"/>
          <p:cNvSpPr/>
          <p:nvPr/>
        </p:nvSpPr>
        <p:spPr>
          <a:xfrm>
            <a:off x="7488936" y="341985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217%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6"/>
          <p:cNvSpPr/>
          <p:nvPr/>
        </p:nvSpPr>
        <p:spPr>
          <a:xfrm>
            <a:off x="228600" y="3803904"/>
            <a:ext cx="8723376" cy="3840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6"/>
          <p:cNvSpPr/>
          <p:nvPr/>
        </p:nvSpPr>
        <p:spPr>
          <a:xfrm>
            <a:off x="228600" y="3803904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6"/>
          <p:cNvSpPr/>
          <p:nvPr/>
        </p:nvSpPr>
        <p:spPr>
          <a:xfrm>
            <a:off x="228600" y="380390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2697480" y="3803904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6"/>
          <p:cNvSpPr/>
          <p:nvPr/>
        </p:nvSpPr>
        <p:spPr>
          <a:xfrm>
            <a:off x="2697480" y="380390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5.23×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6"/>
          <p:cNvSpPr/>
          <p:nvPr/>
        </p:nvSpPr>
        <p:spPr>
          <a:xfrm>
            <a:off x="4251960" y="3803904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6"/>
          <p:cNvSpPr/>
          <p:nvPr/>
        </p:nvSpPr>
        <p:spPr>
          <a:xfrm>
            <a:off x="4251960" y="380390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3.85×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5806440" y="3803904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6"/>
          <p:cNvSpPr/>
          <p:nvPr/>
        </p:nvSpPr>
        <p:spPr>
          <a:xfrm>
            <a:off x="5806440" y="3803904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5.62×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7488936" y="3803904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6"/>
          <p:cNvSpPr/>
          <p:nvPr/>
        </p:nvSpPr>
        <p:spPr>
          <a:xfrm>
            <a:off x="7488936" y="380390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5.53×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228600" y="4187952"/>
            <a:ext cx="872337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6"/>
          <p:cNvSpPr/>
          <p:nvPr/>
        </p:nvSpPr>
        <p:spPr>
          <a:xfrm>
            <a:off x="228600" y="4187952"/>
            <a:ext cx="2468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6"/>
          <p:cNvSpPr/>
          <p:nvPr/>
        </p:nvSpPr>
        <p:spPr>
          <a:xfrm>
            <a:off x="228600" y="418795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Payback Period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6"/>
          <p:cNvSpPr/>
          <p:nvPr/>
        </p:nvSpPr>
        <p:spPr>
          <a:xfrm>
            <a:off x="2697480" y="4187952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2697480" y="418795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6"/>
          <p:cNvSpPr/>
          <p:nvPr/>
        </p:nvSpPr>
        <p:spPr>
          <a:xfrm>
            <a:off x="4251960" y="4187952"/>
            <a:ext cx="1554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6"/>
          <p:cNvSpPr/>
          <p:nvPr/>
        </p:nvSpPr>
        <p:spPr>
          <a:xfrm>
            <a:off x="4251960" y="418795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5806440" y="4187952"/>
            <a:ext cx="168249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6"/>
          <p:cNvSpPr/>
          <p:nvPr/>
        </p:nvSpPr>
        <p:spPr>
          <a:xfrm>
            <a:off x="5806440" y="4187952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6"/>
          <p:cNvSpPr/>
          <p:nvPr/>
        </p:nvSpPr>
        <p:spPr>
          <a:xfrm>
            <a:off x="7488936" y="4187952"/>
            <a:ext cx="146304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6"/>
          <p:cNvSpPr/>
          <p:nvPr/>
        </p:nvSpPr>
        <p:spPr>
          <a:xfrm>
            <a:off x="7488936" y="418795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6"/>
          <p:cNvSpPr/>
          <p:nvPr/>
        </p:nvSpPr>
        <p:spPr>
          <a:xfrm>
            <a:off x="228600" y="4572000"/>
            <a:ext cx="8723376" cy="384048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6"/>
          <p:cNvSpPr/>
          <p:nvPr/>
        </p:nvSpPr>
        <p:spPr>
          <a:xfrm>
            <a:off x="228600" y="4572000"/>
            <a:ext cx="2468880" cy="384048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6"/>
          <p:cNvSpPr/>
          <p:nvPr/>
        </p:nvSpPr>
        <p:spPr>
          <a:xfrm>
            <a:off x="228600" y="457200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2697480" y="4572000"/>
            <a:ext cx="1554480" cy="384048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6"/>
          <p:cNvSpPr/>
          <p:nvPr/>
        </p:nvSpPr>
        <p:spPr>
          <a:xfrm>
            <a:off x="2697480" y="457200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4251960" y="4572000"/>
            <a:ext cx="1554480" cy="384048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6"/>
          <p:cNvSpPr/>
          <p:nvPr/>
        </p:nvSpPr>
        <p:spPr>
          <a:xfrm>
            <a:off x="4251960" y="457200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6"/>
          <p:cNvSpPr/>
          <p:nvPr/>
        </p:nvSpPr>
        <p:spPr>
          <a:xfrm>
            <a:off x="5806440" y="4572000"/>
            <a:ext cx="1682496" cy="384048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6"/>
          <p:cNvSpPr/>
          <p:nvPr/>
        </p:nvSpPr>
        <p:spPr>
          <a:xfrm>
            <a:off x="5806440" y="4572000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6"/>
          <p:cNvSpPr/>
          <p:nvPr/>
        </p:nvSpPr>
        <p:spPr>
          <a:xfrm>
            <a:off x="7488936" y="4572000"/>
            <a:ext cx="1463040" cy="384048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6"/>
          <p:cNvSpPr/>
          <p:nvPr/>
        </p:nvSpPr>
        <p:spPr>
          <a:xfrm>
            <a:off x="7488936" y="45720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g3db3dafa87f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4425"/>
            <a:ext cx="5696525" cy="42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g3db3dafa87f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700" y="770225"/>
            <a:ext cx="3142674" cy="264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g3db3dafa87f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5975" y="3177300"/>
            <a:ext cx="3142677" cy="1994301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g3db3dafa87f_0_7"/>
          <p:cNvSpPr/>
          <p:nvPr/>
        </p:nvSpPr>
        <p:spPr>
          <a:xfrm>
            <a:off x="176395" y="3532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g3db3dafa87f_0_7"/>
          <p:cNvSpPr/>
          <p:nvPr/>
        </p:nvSpPr>
        <p:spPr>
          <a:xfrm>
            <a:off x="100" y="7180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2F2F2"/>
                </a:solidFill>
              </a:rPr>
              <a:t>DASHBOARD</a:t>
            </a:r>
            <a:endParaRPr b="1" sz="27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g3db3dafa87f_0_12"/>
          <p:cNvPicPr preferRelativeResize="0"/>
          <p:nvPr/>
        </p:nvPicPr>
        <p:blipFill rotWithShape="1">
          <a:blip r:embed="rId3">
            <a:alphaModFix/>
          </a:blip>
          <a:srcRect b="7864" l="0" r="4196" t="10808"/>
          <a:stretch/>
        </p:blipFill>
        <p:spPr>
          <a:xfrm>
            <a:off x="0" y="977600"/>
            <a:ext cx="4308199" cy="201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g3db3dafa87f_0_12"/>
          <p:cNvPicPr preferRelativeResize="0"/>
          <p:nvPr/>
        </p:nvPicPr>
        <p:blipFill rotWithShape="1">
          <a:blip r:embed="rId4">
            <a:alphaModFix/>
          </a:blip>
          <a:srcRect b="8776" l="0" r="0" t="0"/>
          <a:stretch/>
        </p:blipFill>
        <p:spPr>
          <a:xfrm>
            <a:off x="4308200" y="899275"/>
            <a:ext cx="4806327" cy="424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g3db3dafa87f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995075"/>
            <a:ext cx="4308202" cy="21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g3db3dafa87f_0_12"/>
          <p:cNvSpPr/>
          <p:nvPr/>
        </p:nvSpPr>
        <p:spPr>
          <a:xfrm>
            <a:off x="100" y="71800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2F2F2"/>
                </a:solidFill>
              </a:rPr>
              <a:t>Charts</a:t>
            </a:r>
            <a:endParaRPr b="1" sz="270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7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Real-World Application &amp; Broader Impact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7"/>
          <p:cNvSpPr/>
          <p:nvPr/>
        </p:nvSpPr>
        <p:spPr>
          <a:xfrm>
            <a:off x="228600" y="786384"/>
            <a:ext cx="8723400" cy="12984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7"/>
          <p:cNvSpPr/>
          <p:nvPr/>
        </p:nvSpPr>
        <p:spPr>
          <a:xfrm>
            <a:off x="228600" y="786384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7"/>
          <p:cNvSpPr/>
          <p:nvPr/>
        </p:nvSpPr>
        <p:spPr>
          <a:xfrm>
            <a:off x="365760" y="84124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Who can use this tool?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7"/>
          <p:cNvSpPr/>
          <p:nvPr/>
        </p:nvSpPr>
        <p:spPr>
          <a:xfrm>
            <a:off x="512064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University administrators evaluating chatbot vendors 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enter assumptions, get instant NPV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7"/>
          <p:cNvSpPr/>
          <p:nvPr/>
        </p:nvSpPr>
        <p:spPr>
          <a:xfrm>
            <a:off x="512064" y="160934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 budget committees comparing Zendesk vs. Salesforce vs. ServiceNow tiers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7"/>
          <p:cNvSpPr/>
          <p:nvPr/>
        </p:nvSpPr>
        <p:spPr>
          <a:xfrm>
            <a:off x="4718304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Financial planners stress-testing ROI at different enrollment levels or wage rates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7"/>
          <p:cNvSpPr/>
          <p:nvPr/>
        </p:nvSpPr>
        <p:spPr>
          <a:xfrm>
            <a:off x="4718304" y="160934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Researchers comparing AI adoption economics across institution types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7"/>
          <p:cNvSpPr/>
          <p:nvPr/>
        </p:nvSpPr>
        <p:spPr>
          <a:xfrm>
            <a:off x="228600" y="2203704"/>
            <a:ext cx="8723376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7"/>
          <p:cNvSpPr/>
          <p:nvPr/>
        </p:nvSpPr>
        <p:spPr>
          <a:xfrm>
            <a:off x="228600" y="2203704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7"/>
          <p:cNvSpPr/>
          <p:nvPr/>
        </p:nvSpPr>
        <p:spPr>
          <a:xfrm>
            <a:off x="365760" y="225856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Economic &amp; Social Impact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7"/>
          <p:cNvSpPr/>
          <p:nvPr/>
        </p:nvSpPr>
        <p:spPr>
          <a:xfrm>
            <a:off x="512064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Positions made available for redeployment 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not just headcount reduction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7"/>
          <p:cNvSpPr/>
          <p:nvPr/>
        </p:nvSpPr>
        <p:spPr>
          <a:xfrm>
            <a:off x="512064" y="302666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24/7 student support without overtime cost — improves service equity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7"/>
          <p:cNvSpPr/>
          <p:nvPr/>
        </p:nvSpPr>
        <p:spPr>
          <a:xfrm>
            <a:off x="4718304" y="2606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First-contact resolution rates improve 20–35% (Gartner, 2022)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7"/>
          <p:cNvSpPr/>
          <p:nvPr/>
        </p:nvSpPr>
        <p:spPr>
          <a:xfrm>
            <a:off x="4718304" y="302666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Financial literacy: AI tools make cost-benefit analysis accessible to students too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7"/>
          <p:cNvSpPr/>
          <p:nvPr/>
        </p:nvSpPr>
        <p:spPr>
          <a:xfrm>
            <a:off x="228600" y="3621024"/>
            <a:ext cx="8723376" cy="129844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7"/>
          <p:cNvSpPr/>
          <p:nvPr/>
        </p:nvSpPr>
        <p:spPr>
          <a:xfrm>
            <a:off x="228600" y="3621024"/>
            <a:ext cx="54864" cy="129844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7"/>
          <p:cNvSpPr/>
          <p:nvPr/>
        </p:nvSpPr>
        <p:spPr>
          <a:xfrm>
            <a:off x="365760" y="367588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Environmental Considerations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7"/>
          <p:cNvSpPr/>
          <p:nvPr/>
        </p:nvSpPr>
        <p:spPr>
          <a:xfrm>
            <a:off x="512064" y="40233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inference energy usage: ~0.001 kWh per query 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 below server-based helpdesks</a:t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7"/>
          <p:cNvSpPr/>
          <p:nvPr/>
        </p:nvSpPr>
        <p:spPr>
          <a:xfrm>
            <a:off x="512075" y="4553724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Cloud-hosted platforms reduce on-premise hardware energy consumption relative to legacy systems.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7"/>
          <p:cNvSpPr/>
          <p:nvPr/>
        </p:nvSpPr>
        <p:spPr>
          <a:xfrm>
            <a:off x="4718304" y="40233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Cloud-hosted platforms reduce on-premise hardware energy by ~40% vs legacy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7"/>
          <p:cNvSpPr/>
          <p:nvPr/>
        </p:nvSpPr>
        <p:spPr>
          <a:xfrm>
            <a:off x="4718304" y="44439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Aligns with CSU and UC sustainability goals for 2030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8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 &amp; Limitations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8"/>
          <p:cNvSpPr/>
          <p:nvPr/>
        </p:nvSpPr>
        <p:spPr>
          <a:xfrm>
            <a:off x="228600" y="786384"/>
            <a:ext cx="8723376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8"/>
          <p:cNvSpPr/>
          <p:nvPr/>
        </p:nvSpPr>
        <p:spPr>
          <a:xfrm>
            <a:off x="228600" y="786384"/>
            <a:ext cx="502920" cy="11155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8"/>
          <p:cNvSpPr/>
          <p:nvPr/>
        </p:nvSpPr>
        <p:spPr>
          <a:xfrm>
            <a:off x="228600" y="78638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8"/>
          <p:cNvSpPr/>
          <p:nvPr/>
        </p:nvSpPr>
        <p:spPr>
          <a:xfrm>
            <a:off x="822960" y="859536"/>
            <a:ext cx="8001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Q1: Is chatbot adoption economically justified?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8"/>
          <p:cNvSpPr/>
          <p:nvPr/>
        </p:nvSpPr>
        <p:spPr>
          <a:xfrm>
            <a:off x="822960" y="1170432"/>
            <a:ext cx="8001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Yes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unambiguously. NPVs of $394K–$1.29M, BCRs 3.85–5.62×, payback Year 1. The economic case is strong at all four institutions.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8"/>
          <p:cNvSpPr/>
          <p:nvPr/>
        </p:nvSpPr>
        <p:spPr>
          <a:xfrm>
            <a:off x="228600" y="2020824"/>
            <a:ext cx="8723376" cy="1115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8"/>
          <p:cNvSpPr/>
          <p:nvPr/>
        </p:nvSpPr>
        <p:spPr>
          <a:xfrm>
            <a:off x="228600" y="2020824"/>
            <a:ext cx="502920" cy="11155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8"/>
          <p:cNvSpPr/>
          <p:nvPr/>
        </p:nvSpPr>
        <p:spPr>
          <a:xfrm>
            <a:off x="228600" y="202082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8"/>
          <p:cNvSpPr/>
          <p:nvPr/>
        </p:nvSpPr>
        <p:spPr>
          <a:xfrm>
            <a:off x="822960" y="2093976"/>
            <a:ext cx="8001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Q2: How robust is the analysis?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8"/>
          <p:cNvSpPr/>
          <p:nvPr/>
        </p:nvSpPr>
        <p:spPr>
          <a:xfrm>
            <a:off x="822960" y="2404872"/>
            <a:ext cx="8001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Highly robust. Accept decision holds across workforce reduction 25–45%, MARR 6–12%, setup cost −30% to ×2.0, and subscription $5K–$40K. Zero Reject outcomes in 48+ scenarios.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8"/>
          <p:cNvSpPr/>
          <p:nvPr/>
        </p:nvSpPr>
        <p:spPr>
          <a:xfrm>
            <a:off x="228600" y="3255264"/>
            <a:ext cx="8723376" cy="111556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8"/>
          <p:cNvSpPr/>
          <p:nvPr/>
        </p:nvSpPr>
        <p:spPr>
          <a:xfrm>
            <a:off x="228600" y="3255264"/>
            <a:ext cx="502920" cy="11155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8"/>
          <p:cNvSpPr/>
          <p:nvPr/>
        </p:nvSpPr>
        <p:spPr>
          <a:xfrm>
            <a:off x="228600" y="3255264"/>
            <a:ext cx="502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8"/>
          <p:cNvSpPr/>
          <p:nvPr/>
        </p:nvSpPr>
        <p:spPr>
          <a:xfrm>
            <a:off x="822960" y="3328416"/>
            <a:ext cx="8001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Q3: Which institution is strongest?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8"/>
          <p:cNvSpPr/>
          <p:nvPr/>
        </p:nvSpPr>
        <p:spPr>
          <a:xfrm>
            <a:off x="822960" y="3639312"/>
            <a:ext cx="8001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ASU on absolute NPV ($1.29M, BCR 5.62×) due to 25 FTE headcount. UCB second ($756K). SJSU third ($589K). Stanford fourth ($394K) 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all Accept with similar BCR multiples.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8"/>
          <p:cNvSpPr/>
          <p:nvPr/>
        </p:nvSpPr>
        <p:spPr>
          <a:xfrm>
            <a:off x="228600" y="4572000"/>
            <a:ext cx="8723376" cy="34747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8"/>
          <p:cNvSpPr/>
          <p:nvPr/>
        </p:nvSpPr>
        <p:spPr>
          <a:xfrm>
            <a:off x="320040" y="460857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Limitations: Assumes FTE reduction is fully realized (vs. redeployment). Does not model transition costs or student satisfaction benefits. Forward-looking returns based on McKinsey benchmarks which may not apply to all institutions.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0"/>
          <p:cNvSpPr/>
          <p:nvPr/>
        </p:nvSpPr>
        <p:spPr>
          <a:xfrm>
            <a:off x="274320" y="36576"/>
            <a:ext cx="85953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228600" y="804672"/>
            <a:ext cx="4279392" cy="6400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0"/>
          <p:cNvSpPr/>
          <p:nvPr/>
        </p:nvSpPr>
        <p:spPr>
          <a:xfrm>
            <a:off x="228600" y="804672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0"/>
          <p:cNvSpPr/>
          <p:nvPr/>
        </p:nvSpPr>
        <p:spPr>
          <a:xfrm>
            <a:off x="228600" y="804672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0"/>
          <p:cNvSpPr/>
          <p:nvPr/>
        </p:nvSpPr>
        <p:spPr>
          <a:xfrm>
            <a:off x="521200" y="973672"/>
            <a:ext cx="39135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Bureau of Labor Statistics. (2023). </a:t>
            </a:r>
            <a:r>
              <a:rPr i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 cost index, Q4 2023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https://www.bls.gov/news.release/eci.toc.htm</a:t>
            </a:r>
            <a:endParaRPr sz="8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8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228600" y="1508760"/>
            <a:ext cx="4279392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228600" y="1508760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228600" y="150876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0"/>
          <p:cNvSpPr/>
          <p:nvPr/>
        </p:nvSpPr>
        <p:spPr>
          <a:xfrm>
            <a:off x="521350" y="1563625"/>
            <a:ext cx="3913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Bureau of Labor Statistics. (2024). </a:t>
            </a:r>
            <a:r>
              <a:rPr i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Occupational employment and wage statistics, May 2024 (SOC 43-4051 customer service representatives)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https://www.bls.gov/oes/current/oes434051.htm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228600" y="2212848"/>
            <a:ext cx="4279392" cy="6400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228600" y="2212848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0"/>
          <p:cNvSpPr/>
          <p:nvPr/>
        </p:nvSpPr>
        <p:spPr>
          <a:xfrm>
            <a:off x="228600" y="2212848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0"/>
          <p:cNvSpPr/>
          <p:nvPr/>
        </p:nvSpPr>
        <p:spPr>
          <a:xfrm>
            <a:off x="521358" y="2295125"/>
            <a:ext cx="3913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EDUCAUSE. (2023a). </a:t>
            </a:r>
            <a:r>
              <a:rPr i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data service 2023: Table S117 student support IT staffing by Carnegie classification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https://www.educause.edu/research-and-publications/research/core-data-service</a:t>
            </a:r>
            <a:endParaRPr sz="8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0"/>
          <p:cNvSpPr/>
          <p:nvPr/>
        </p:nvSpPr>
        <p:spPr>
          <a:xfrm>
            <a:off x="228600" y="2916936"/>
            <a:ext cx="4279392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228600" y="2916936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0"/>
          <p:cNvSpPr/>
          <p:nvPr/>
        </p:nvSpPr>
        <p:spPr>
          <a:xfrm>
            <a:off x="228600" y="2916936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0"/>
          <p:cNvSpPr/>
          <p:nvPr/>
        </p:nvSpPr>
        <p:spPr>
          <a:xfrm>
            <a:off x="521208" y="2971800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EDUCAUSE. (2023b). </a:t>
            </a:r>
            <a:r>
              <a:rPr i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application survey 2023: Conversational AI integration costs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https://er.educause.edu/articles/2024/2/exploring-the-opportunities-and-challenges-with-generative-ai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0"/>
          <p:cNvSpPr/>
          <p:nvPr/>
        </p:nvSpPr>
        <p:spPr>
          <a:xfrm>
            <a:off x="228600" y="3621024"/>
            <a:ext cx="4279392" cy="6400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0"/>
          <p:cNvSpPr/>
          <p:nvPr/>
        </p:nvSpPr>
        <p:spPr>
          <a:xfrm>
            <a:off x="228600" y="3621024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0"/>
          <p:cNvSpPr/>
          <p:nvPr/>
        </p:nvSpPr>
        <p:spPr>
          <a:xfrm>
            <a:off x="228600" y="3621024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0"/>
          <p:cNvSpPr/>
          <p:nvPr/>
        </p:nvSpPr>
        <p:spPr>
          <a:xfrm>
            <a:off x="521208" y="3675888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Gartner. (2022). Hype Cycle for Education Technology, 2022. gartner.com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0"/>
          <p:cNvSpPr/>
          <p:nvPr/>
        </p:nvSpPr>
        <p:spPr>
          <a:xfrm>
            <a:off x="228600" y="4325112"/>
            <a:ext cx="4279392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0"/>
          <p:cNvSpPr/>
          <p:nvPr/>
        </p:nvSpPr>
        <p:spPr>
          <a:xfrm>
            <a:off x="228600" y="4325112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0"/>
          <p:cNvSpPr/>
          <p:nvPr/>
        </p:nvSpPr>
        <p:spPr>
          <a:xfrm>
            <a:off x="228600" y="4325112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0"/>
          <p:cNvSpPr/>
          <p:nvPr/>
        </p:nvSpPr>
        <p:spPr>
          <a:xfrm>
            <a:off x="521208" y="4379976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Gartner. (2025). </a:t>
            </a:r>
            <a:r>
              <a:rPr i="1" lang="en-US" sz="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key metrics data 2025: Higher education industry measures</a:t>
            </a:r>
            <a:r>
              <a:rPr lang="en-US" sz="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https://www.gartner.com/en/documents/5972171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0"/>
          <p:cNvSpPr/>
          <p:nvPr/>
        </p:nvSpPr>
        <p:spPr>
          <a:xfrm>
            <a:off x="4709160" y="804672"/>
            <a:ext cx="4279392" cy="6400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0"/>
          <p:cNvSpPr/>
          <p:nvPr/>
        </p:nvSpPr>
        <p:spPr>
          <a:xfrm>
            <a:off x="4709160" y="804672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0"/>
          <p:cNvSpPr/>
          <p:nvPr/>
        </p:nvSpPr>
        <p:spPr>
          <a:xfrm>
            <a:off x="4709160" y="804672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0"/>
          <p:cNvSpPr/>
          <p:nvPr/>
        </p:nvSpPr>
        <p:spPr>
          <a:xfrm>
            <a:off x="5001775" y="931325"/>
            <a:ext cx="3913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McKinsey Global Institute. (2023). </a:t>
            </a:r>
            <a:r>
              <a:rPr i="1" lang="en-US" sz="800">
                <a:solidFill>
                  <a:schemeClr val="dk1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economic potential of generative AI</a:t>
            </a:r>
            <a:r>
              <a:rPr lang="en-US" sz="800">
                <a:solidFill>
                  <a:schemeClr val="dk1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McKinsey &amp; Company.</a:t>
            </a:r>
            <a:r>
              <a:rPr lang="en-US" sz="800">
                <a:solidFill>
                  <a:schemeClr val="dk1"/>
                </a:solidFill>
                <a:highlight>
                  <a:srgbClr val="F2F2F2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https://www.mckinsey.com/capabilities/tech-and-ai/our-insights/the-economic-potential-of-generative-ai-the-next-productivity-frontier</a:t>
            </a:r>
            <a:endParaRPr sz="800" u="sng">
              <a:solidFill>
                <a:srgbClr val="1155CC"/>
              </a:solidFill>
              <a:highlight>
                <a:srgbClr val="F2F2F2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0"/>
          <p:cNvSpPr/>
          <p:nvPr/>
        </p:nvSpPr>
        <p:spPr>
          <a:xfrm>
            <a:off x="4709160" y="1508760"/>
            <a:ext cx="4279392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0"/>
          <p:cNvSpPr/>
          <p:nvPr/>
        </p:nvSpPr>
        <p:spPr>
          <a:xfrm>
            <a:off x="4709160" y="1508760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0"/>
          <p:cNvSpPr/>
          <p:nvPr/>
        </p:nvSpPr>
        <p:spPr>
          <a:xfrm>
            <a:off x="4709160" y="150876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0"/>
          <p:cNvSpPr/>
          <p:nvPr/>
        </p:nvSpPr>
        <p:spPr>
          <a:xfrm>
            <a:off x="5001768" y="1609349"/>
            <a:ext cx="3913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NACUBO. (2023). </a:t>
            </a:r>
            <a:r>
              <a:rPr i="1" lang="en-US" sz="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2023 NACUBO-TIAA study of endowments</a:t>
            </a:r>
            <a:r>
              <a:rPr lang="en-US" sz="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https://www.nacubo.org/Events/2024/Results-From-the-2023-NACUBO-Commonfund-Study-of-Endowments</a:t>
            </a:r>
            <a:endParaRPr sz="800" u="sng">
              <a:solidFill>
                <a:srgbClr val="1155C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0"/>
          <p:cNvSpPr/>
          <p:nvPr/>
        </p:nvSpPr>
        <p:spPr>
          <a:xfrm>
            <a:off x="4709160" y="2212848"/>
            <a:ext cx="4279392" cy="6400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0"/>
          <p:cNvSpPr/>
          <p:nvPr/>
        </p:nvSpPr>
        <p:spPr>
          <a:xfrm>
            <a:off x="4709160" y="2212848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0"/>
          <p:cNvSpPr/>
          <p:nvPr/>
        </p:nvSpPr>
        <p:spPr>
          <a:xfrm>
            <a:off x="4709160" y="2212848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0"/>
          <p:cNvSpPr/>
          <p:nvPr/>
        </p:nvSpPr>
        <p:spPr>
          <a:xfrm>
            <a:off x="5001768" y="2267712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Park, C. S. (2019). </a:t>
            </a:r>
            <a:r>
              <a:rPr i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Contemporary engineering economics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(6th ed.). Pearson.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0"/>
          <p:cNvSpPr/>
          <p:nvPr/>
        </p:nvSpPr>
        <p:spPr>
          <a:xfrm>
            <a:off x="4709160" y="2916936"/>
            <a:ext cx="4279392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0"/>
          <p:cNvSpPr/>
          <p:nvPr/>
        </p:nvSpPr>
        <p:spPr>
          <a:xfrm>
            <a:off x="4709160" y="2916936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0"/>
          <p:cNvSpPr/>
          <p:nvPr/>
        </p:nvSpPr>
        <p:spPr>
          <a:xfrm>
            <a:off x="4709160" y="2916936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0"/>
          <p:cNvSpPr/>
          <p:nvPr/>
        </p:nvSpPr>
        <p:spPr>
          <a:xfrm>
            <a:off x="5001775" y="3109025"/>
            <a:ext cx="3913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Salesforce. (2024). </a:t>
            </a:r>
            <a:r>
              <a:rPr i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cloud pricing and editions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https://www.salesforce.com/editions-pricing/service-cloud</a:t>
            </a:r>
            <a:endParaRPr sz="8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0"/>
          <p:cNvSpPr/>
          <p:nvPr/>
        </p:nvSpPr>
        <p:spPr>
          <a:xfrm>
            <a:off x="4709160" y="3621024"/>
            <a:ext cx="4279392" cy="6400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0"/>
          <p:cNvSpPr/>
          <p:nvPr/>
        </p:nvSpPr>
        <p:spPr>
          <a:xfrm>
            <a:off x="4709160" y="3621024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0"/>
          <p:cNvSpPr/>
          <p:nvPr/>
        </p:nvSpPr>
        <p:spPr>
          <a:xfrm>
            <a:off x="4709160" y="3621024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0"/>
          <p:cNvSpPr/>
          <p:nvPr/>
        </p:nvSpPr>
        <p:spPr>
          <a:xfrm>
            <a:off x="5001705" y="3636075"/>
            <a:ext cx="3913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ServiceNow. (2024). </a:t>
            </a:r>
            <a:r>
              <a:rPr i="1" lang="en-US" sz="800">
                <a:solidFill>
                  <a:schemeClr val="dk1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ITSM education solutions</a:t>
            </a:r>
            <a:r>
              <a:rPr lang="en-US" sz="800">
                <a:solidFill>
                  <a:schemeClr val="dk1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 u="sng">
                <a:solidFill>
                  <a:srgbClr val="1155CC"/>
                </a:solidFill>
                <a:highlight>
                  <a:srgbClr val="F2F2F2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https://www.servicenow.com/solutions/industry/education.html</a:t>
            </a:r>
            <a:endParaRPr sz="800" u="sng">
              <a:solidFill>
                <a:srgbClr val="1155CC"/>
              </a:solidFill>
              <a:highlight>
                <a:srgbClr val="F2F2F2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20"/>
          <p:cNvSpPr/>
          <p:nvPr/>
        </p:nvSpPr>
        <p:spPr>
          <a:xfrm>
            <a:off x="4709160" y="4325112"/>
            <a:ext cx="4279392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0"/>
          <p:cNvSpPr/>
          <p:nvPr/>
        </p:nvSpPr>
        <p:spPr>
          <a:xfrm>
            <a:off x="4709160" y="4325112"/>
            <a:ext cx="256032" cy="64008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0"/>
          <p:cNvSpPr/>
          <p:nvPr/>
        </p:nvSpPr>
        <p:spPr>
          <a:xfrm>
            <a:off x="4709160" y="4325112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0"/>
          <p:cNvSpPr/>
          <p:nvPr/>
        </p:nvSpPr>
        <p:spPr>
          <a:xfrm>
            <a:off x="5001775" y="4494226"/>
            <a:ext cx="39135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Zendesk. (2024). </a:t>
            </a:r>
            <a:r>
              <a:rPr i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Zendesk suite pricing plans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8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https://www.zendesk.com/pricing</a:t>
            </a:r>
            <a:endParaRPr sz="8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db3dafa87f_1_346"/>
          <p:cNvSpPr/>
          <p:nvPr/>
        </p:nvSpPr>
        <p:spPr>
          <a:xfrm>
            <a:off x="45700" y="1990825"/>
            <a:ext cx="9144000" cy="6585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g3db3dafa87f_1_346"/>
          <p:cNvSpPr/>
          <p:nvPr/>
        </p:nvSpPr>
        <p:spPr>
          <a:xfrm>
            <a:off x="130720" y="204572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2026-04-29T03:13:27Z</dcterms:created>
  <dc:creator>PptxGenJS</dc:creator>
</cp:coreProperties>
</file>